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05943c3be34349" /><Relationship Type="http://schemas.openxmlformats.org/officeDocument/2006/relationships/extended-properties" Target="/docProps/app.xml" Id="R830be9c5690c426a" /><Relationship Type="http://schemas.openxmlformats.org/officeDocument/2006/relationships/officeDocument" Target="/ppt/presentation.xml" Id="R413f159f8dfd44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3e10ee5b494957"/>
  </p:sldMasterIdLst>
  <p:notesMasterIdLst>
    <p:notesMasterId xmlns:r="http://schemas.openxmlformats.org/officeDocument/2006/relationships" r:id="R76611a5989ea4af4"/>
  </p:notesMasterIdLst>
  <p:sldIdLst>
    <p:sldId xmlns:r="http://schemas.openxmlformats.org/officeDocument/2006/relationships" id="256" r:id="R456637dbc97e459e"/>
    <p:sldId xmlns:r="http://schemas.openxmlformats.org/officeDocument/2006/relationships" id="257" r:id="Rd27eb6cdde6c4cb3"/>
    <p:sldId xmlns:r="http://schemas.openxmlformats.org/officeDocument/2006/relationships" id="258" r:id="Rbfc08b7911fd49db"/>
    <p:sldId xmlns:r="http://schemas.openxmlformats.org/officeDocument/2006/relationships" id="259" r:id="R88a6a24edc39486d"/>
    <p:sldId xmlns:r="http://schemas.openxmlformats.org/officeDocument/2006/relationships" id="260" r:id="R50e63df142934025"/>
    <p:sldId xmlns:r="http://schemas.openxmlformats.org/officeDocument/2006/relationships" id="261" r:id="R1171ebb98d454d4d"/>
    <p:sldId xmlns:r="http://schemas.openxmlformats.org/officeDocument/2006/relationships" id="262" r:id="R1b00ee457f0542ad"/>
    <p:sldId xmlns:r="http://schemas.openxmlformats.org/officeDocument/2006/relationships" id="263" r:id="R19f90bfc42f543b2"/>
    <p:sldId xmlns:r="http://schemas.openxmlformats.org/officeDocument/2006/relationships" id="264" r:id="R47059171a4bb4055"/>
    <p:sldId xmlns:r="http://schemas.openxmlformats.org/officeDocument/2006/relationships" id="265" r:id="R077e5c5a48bb4a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4797d16bd04d84" /><Relationship Type="http://schemas.openxmlformats.org/officeDocument/2006/relationships/slideMaster" Target="/ppt/slideMasters/slideMaster1.xml" Id="R383e10ee5b494957" /><Relationship Type="http://schemas.openxmlformats.org/officeDocument/2006/relationships/notesMaster" Target="/ppt/notesMasters/notesMaster1.xml" Id="R76611a5989ea4af4" /><Relationship Type="http://schemas.openxmlformats.org/officeDocument/2006/relationships/presProps" Target="/ppt/presProps.xml" Id="Ra214905ee6f94ae4" /><Relationship Type="http://schemas.openxmlformats.org/officeDocument/2006/relationships/tableStyles" Target="/ppt/tableStyles.xml" Id="R97433b55a9064ce6" /><Relationship Type="http://schemas.openxmlformats.org/officeDocument/2006/relationships/slide" Target="/ppt/slides/slide1.xml" Id="R456637dbc97e459e" /><Relationship Type="http://schemas.openxmlformats.org/officeDocument/2006/relationships/slide" Target="/ppt/slides/slide2.xml" Id="Rd27eb6cdde6c4cb3" /><Relationship Type="http://schemas.openxmlformats.org/officeDocument/2006/relationships/slide" Target="/ppt/slides/slide3.xml" Id="Rbfc08b7911fd49db" /><Relationship Type="http://schemas.openxmlformats.org/officeDocument/2006/relationships/slide" Target="/ppt/slides/slide4.xml" Id="R88a6a24edc39486d" /><Relationship Type="http://schemas.openxmlformats.org/officeDocument/2006/relationships/slide" Target="/ppt/slides/slide5.xml" Id="R50e63df142934025" /><Relationship Type="http://schemas.openxmlformats.org/officeDocument/2006/relationships/slide" Target="/ppt/slides/slide6.xml" Id="R1171ebb98d454d4d" /><Relationship Type="http://schemas.openxmlformats.org/officeDocument/2006/relationships/slide" Target="/ppt/slides/slide7.xml" Id="R1b00ee457f0542ad" /><Relationship Type="http://schemas.openxmlformats.org/officeDocument/2006/relationships/slide" Target="/ppt/slides/slide8.xml" Id="R19f90bfc42f543b2" /><Relationship Type="http://schemas.openxmlformats.org/officeDocument/2006/relationships/slide" Target="/ppt/slides/slide9.xml" Id="R47059171a4bb4055" /><Relationship Type="http://schemas.openxmlformats.org/officeDocument/2006/relationships/slide" Target="/ppt/slides/slide10.xml" Id="R077e5c5a48bb4a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16a34828c942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709a874200491e" /><Relationship Type="http://schemas.openxmlformats.org/officeDocument/2006/relationships/notesMaster" Target="/ppt/notesMasters/notesMaster1.xml" Id="R4628caad31d146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2a496db6f94831" /><Relationship Type="http://schemas.openxmlformats.org/officeDocument/2006/relationships/notesMaster" Target="/ppt/notesMasters/notesMaster1.xml" Id="R918b822121684e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0baa1d7c224ee1" /><Relationship Type="http://schemas.openxmlformats.org/officeDocument/2006/relationships/notesMaster" Target="/ppt/notesMasters/notesMaster1.xml" Id="Re36cd5800ffd4f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b2d8413a054350" /><Relationship Type="http://schemas.openxmlformats.org/officeDocument/2006/relationships/notesMaster" Target="/ppt/notesMasters/notesMaster1.xml" Id="R895183bf0a3142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f7bb6553e846c4" /><Relationship Type="http://schemas.openxmlformats.org/officeDocument/2006/relationships/notesMaster" Target="/ppt/notesMasters/notesMaster1.xml" Id="R02d805b7629645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b53c1d99314803" /><Relationship Type="http://schemas.openxmlformats.org/officeDocument/2006/relationships/notesMaster" Target="/ppt/notesMasters/notesMaster1.xml" Id="R13131e6d9a1c4f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1fc67a28e941ed" /><Relationship Type="http://schemas.openxmlformats.org/officeDocument/2006/relationships/notesMaster" Target="/ppt/notesMasters/notesMaster1.xml" Id="Rf7b986d6903744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35db1b09874fbc" /><Relationship Type="http://schemas.openxmlformats.org/officeDocument/2006/relationships/notesMaster" Target="/ppt/notesMasters/notesMaster1.xml" Id="Rb79945471a2b43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994aa532a84f08" /><Relationship Type="http://schemas.openxmlformats.org/officeDocument/2006/relationships/notesMaster" Target="/ppt/notesMasters/notesMaster1.xml" Id="R6bf0d75d1a7b46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fe90a332ed4a53" /><Relationship Type="http://schemas.openxmlformats.org/officeDocument/2006/relationships/notesMaster" Target="/ppt/notesMasters/notesMaster1.xml" Id="R47751ac2ab6941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 оценивает будущие расходы и выделяет отклонения после поступления новых данных. Речь о среднем показателе на жителя. Источник: REPORT.md, раздел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303126 наблюдений, 13140 рядов. Категория «Все категории» не равна сумме пяти остальных.</a:t>
            </a:r>
          </a:p>
          <a:p xmlns:a="http://schemas.openxmlformats.org/drawingml/2006/main">
            <a:r>
              <a:t>Источники: Источник: СберИндекс, январь 2023 — декабрь 2024. CC BY-SA 4.0.</a:t>
            </a:r>
          </a:p>
          <a:p xmlns:a="http://schemas.openxmlformats.org/drawingml/2006/main">
            <a:r>
              <a:t>https://github.com/shekoldin299-ship-it/sberindex-final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V2 является компонентом финальной модели V3. Новостные признаки исследованы отдельно.</a:t>
            </a:r>
          </a:p>
          <a:p xmlns:a="http://schemas.openxmlformats.org/drawingml/2006/main">
            <a:r>
              <a:t>Источники: Источники: forecasting.py, upgrade_v2.py, upgrade_v3.py, build_v3_demo.py.</a:t>
            </a:r>
          </a:p>
          <a:p xmlns:a="http://schemas.openxmlformats.org/drawingml/2006/main">
            <a:r>
              <a:t>https://github.com/shekoldin299-ship-it/sberindex-final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Группы территорий не пересекаются. Но календарные периоды общие, ранние baselines рассчитаны по всей панели. Remaining не является полностью слепым тестом.</a:t>
            </a:r>
          </a:p>
          <a:p xmlns:a="http://schemas.openxmlformats.org/drawingml/2006/main">
            <a:r>
              <a:t>Источники: Источники: UPGRADE_PROTOCOL.md, V3_PROTOCOL.md, сохранённые разбиения.</a:t>
            </a:r>
          </a:p>
          <a:p xmlns:a="http://schemas.openxmlformats.org/drawingml/2006/main">
            <a:r>
              <a:t>https://github.com/shekoldin299-ship-it/sberindex-final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 100 выбранных МО у 96 есть фактические цели. Всего 3 996 пар с учётом h=12. Для h=1/3/6 соответственно 1 710/1 146/570 пар. Prophet использует нашу reference-конфигурацию. Точные параметры модели организатора неизвестны.</a:t>
            </a:r>
          </a:p>
          <a:p xmlns:a="http://schemas.openxmlformats.org/drawingml/2006/main">
            <a:r>
              <a:t>Источники: Источник: pipeline/v3_results/paired_prophet_metrics.csv. MAE меньше — лучше.</a:t>
            </a:r>
          </a:p>
          <a:p xmlns:a="http://schemas.openxmlformats.org/drawingml/2006/main">
            <a:r>
              <a:t>https://github.com/shekoldin299-ship-it/sberindex-final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полной панели снижение MAE составляет 15,0/9,8/5,4%. Здесь показана только группа remaining. V2 объединяет Ridge, сезонную модель и Chronos. V3 добавляет панельный фактор.</a:t>
            </a:r>
          </a:p>
          <a:p xmlns:a="http://schemas.openxmlformats.org/drawingml/2006/main">
            <a:r>
              <a:t>Источники: Источник: pipeline/v3_results/comparison.csv, группа remaining.</a:t>
            </a:r>
          </a:p>
          <a:p xmlns:a="http://schemas.openxmlformats.org/drawingml/2006/main">
            <a:r>
              <a:t>https://github.com/shekoldin299-ship-it/sberindex-final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amazon/chronos-bolt-tiny, ревизия a0e552de83495b5c28c14c71c374f3e33280b340. Лицензия Apache-2.0. Дообучения нет. Ablation заменяет выбранные Chronos-компоненты сезонной моделью без повторного выбора ансамбля.</a:t>
            </a:r>
          </a:p>
          <a:p xmlns:a="http://schemas.openxmlformats.org/drawingml/2006/main">
            <a:r>
              <a:t>Источники: Источник: pipeline/upgrade_results/metrics.csv и paired_comparisons.json.</a:t>
            </a:r>
          </a:p>
          <a:p xmlns:a="http://schemas.openxmlformats.org/drawingml/2006/main">
            <a:r>
              <a:t>https://github.com/shekoldin299-ship-it/sberindex-final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Контролируемая ablation исходной Ridge, а не итоговая MAE V3. Корпус содержит 9 фактов ЦБ: начальное состояние и 8 повышений. Доступность устанавливается на следующий день после публикации, используется строгое условие available_at &lt; as_of.</a:t>
            </a:r>
          </a:p>
          <a:p xmlns:a="http://schemas.openxmlformats.org/drawingml/2006/main">
            <a:r>
              <a:t>Источники: Источник: pipeline/final_results/news_ablation.csv, строки test.</a:t>
            </a:r>
          </a:p>
          <a:p xmlns:a="http://schemas.openxmlformats.org/drawingml/2006/main">
            <a:r>
              <a:t>https://github.com/shekoldin299-ship-it/sberindex-final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Тест: 300 МО и 7 сценариев на каждый, всего 2 100 случаев. Из них 1 500 изменений, 300 контролей, 300 выбросов. Precision=TP/(TP+FP), recall=TP/(TP+FN). Задержка рассчитывается только для обнаруженных событий.</a:t>
            </a:r>
          </a:p>
          <a:p xmlns:a="http://schemas.openxmlformats.org/drawingml/2006/main">
            <a:r>
              <a:t>Источники: Источник: pipeline/v3_results/detector_metrics.csv, split=test.</a:t>
            </a:r>
          </a:p>
          <a:p xmlns:a="http://schemas.openxmlformats.org/drawingml/2006/main">
            <a:r>
              <a:t>https://github.com/shekoldin299-ship-it/sberindex-final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МЧС, 6 апреля: https://56.mchs.gov.ru/deyatelnost/press-centr/novosti/5249015 . МЧС, 17 апреля: https://mchs.gov.ru/deyatelnost/press-centr/novosti/5257170 . Кейсы выбраны по событиям до просмотра сигналов.</a:t>
            </a:r>
          </a:p>
          <a:p xmlns:a="http://schemas.openxmlformats.org/drawingml/2006/main">
            <a:r>
              <a:t>Источники: Источники: МЧС, local_case_history.csv, local_cases.json. Динамика относительно медианы панели.</a:t>
            </a:r>
          </a:p>
          <a:p xmlns:a="http://schemas.openxmlformats.org/drawingml/2006/main">
            <a:r>
              <a:t>https://github.com/shekoldin299-ship-it/sberindex-final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a15dec22e45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7eab6f57146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bceb37da641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b1231ca3241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aec5d7c5c4f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c25a163684e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3A2901-AB40-4208-95F8-A36AB7D9A1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5F24B3-0846-453F-9C4A-BB87F97F0A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D67E7D-B30B-41C9-85EF-5939D7C54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F5665D-C651-4ECC-86B9-21D1AE51FD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61F0F6-B460-41FB-9E87-8BC2FEDF08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5C40DC-D739-403C-811E-BD998AC44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006BD2-8F02-43DD-B60C-D818D265A1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E42B97-0A20-415B-B782-DD7FFF9047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7F0139-9C1E-437E-BDE2-2C83C6A90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12444C-F87E-4ECD-A8BB-9A9794A6E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b2d8a23fc94504" /><Relationship Type="http://schemas.openxmlformats.org/officeDocument/2006/relationships/slideLayout" Target="/ppt/slideLayouts/slideLayout1.xml" Id="Rd5998b52a61c49c7" /><Relationship Type="http://schemas.openxmlformats.org/officeDocument/2006/relationships/slideLayout" Target="/ppt/slideLayouts/slideLayout2.xml" Id="Ra6b9b93866604081" /><Relationship Type="http://schemas.openxmlformats.org/officeDocument/2006/relationships/slideLayout" Target="/ppt/slideLayouts/slideLayout3.xml" Id="R0890092c982549c6" /><Relationship Type="http://schemas.openxmlformats.org/officeDocument/2006/relationships/slideLayout" Target="/ppt/slideLayouts/slideLayout4.xml" Id="R7de7dc2628194641" /><Relationship Type="http://schemas.openxmlformats.org/officeDocument/2006/relationships/slideLayout" Target="/ppt/slideLayouts/slideLayout5.xml" Id="R288f06303b9146a0" /><Relationship Type="http://schemas.openxmlformats.org/officeDocument/2006/relationships/slideLayout" Target="/ppt/slideLayouts/slideLayout6.xml" Id="Rff80baf8539b49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998b52a61c49c7"/>
    <p:sldLayoutId xmlns:r="http://schemas.openxmlformats.org/officeDocument/2006/relationships" id="2147483650" r:id="Ra6b9b93866604081"/>
    <p:sldLayoutId xmlns:r="http://schemas.openxmlformats.org/officeDocument/2006/relationships" id="2147483651" r:id="R0890092c982549c6"/>
    <p:sldLayoutId xmlns:r="http://schemas.openxmlformats.org/officeDocument/2006/relationships" id="2147483652" r:id="R7de7dc2628194641"/>
    <p:sldLayoutId xmlns:r="http://schemas.openxmlformats.org/officeDocument/2006/relationships" id="2147483653" r:id="R288f06303b9146a0"/>
    <p:sldLayoutId xmlns:r="http://schemas.openxmlformats.org/officeDocument/2006/relationships" id="2147483654" r:id="Rff80baf8539b49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ecb67d6c547b2" /><Relationship Type="http://schemas.openxmlformats.org/officeDocument/2006/relationships/notesSlide" Target="/ppt/notesSlides/notesSlide1.xml" Id="Rf806824509124a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5b6d9b5409444a" /><Relationship Type="http://schemas.openxmlformats.org/officeDocument/2006/relationships/notesSlide" Target="/ppt/notesSlides/notesSlide2.xml" Id="R6e42f57c7c5841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6612055c984cc5" /><Relationship Type="http://schemas.openxmlformats.org/officeDocument/2006/relationships/notesSlide" Target="/ppt/notesSlides/notesSlide3.xml" Id="R604083937b474a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7bc1a20f34475" /><Relationship Type="http://schemas.openxmlformats.org/officeDocument/2006/relationships/notesSlide" Target="/ppt/notesSlides/notesSlide4.xml" Id="R2e73c980237445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dc39dea5224e7a" /><Relationship Type="http://schemas.openxmlformats.org/officeDocument/2006/relationships/chart" Target="/ppt/slides/charts/chart1.xml" Id="R8b33fb62d795423a" /><Relationship Type="http://schemas.openxmlformats.org/officeDocument/2006/relationships/notesSlide" Target="/ppt/notesSlides/notesSlide5.xml" Id="R3712383e7e8142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8c88e19a04b57" /><Relationship Type="http://schemas.openxmlformats.org/officeDocument/2006/relationships/notesSlide" Target="/ppt/notesSlides/notesSlide6.xml" Id="R63bf756c926e42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f8f73fd114ef8" /><Relationship Type="http://schemas.openxmlformats.org/officeDocument/2006/relationships/notesSlide" Target="/ppt/notesSlides/notesSlide7.xml" Id="R679f573685254c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ce92213e74812" /><Relationship Type="http://schemas.openxmlformats.org/officeDocument/2006/relationships/notesSlide" Target="/ppt/notesSlides/notesSlide8.xml" Id="R76e6367e22304a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125c4281248fb" /><Relationship Type="http://schemas.openxmlformats.org/officeDocument/2006/relationships/notesSlide" Target="/ppt/notesSlides/notesSlide9.xml" Id="Rd76a9eb8d4e447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034d5b8874133" /><Relationship Type="http://schemas.openxmlformats.org/officeDocument/2006/relationships/chart" Target="/ppt/slides/charts/chart2.xml" Id="R659b523b49804579" /><Relationship Type="http://schemas.openxmlformats.org/officeDocument/2006/relationships/notesSlide" Target="/ppt/notesSlides/notesSlide10.xml" Id="R9447f3137e50413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Итоговая модель</c:v>
          </c:tx>
          <c:spPr>
            <a:solidFill xmlns:a="http://schemas.openxmlformats.org/drawingml/2006/main">
              <a:srgbClr val="176544"/>
            </a:solidFill>
          </c:spPr>
          <c:cat>
            <c:strRef>
              <c:f>'Chart Data'!$A$2:$A$4</c:f>
              <c:strCache>
                <c:ptCount val="3"/>
                <c:pt idx="0">
                  <c:v>1 месяц</c:v>
                </c:pt>
                <c:pt idx="1">
                  <c:v>3 месяца</c:v>
                </c:pt>
                <c:pt idx="2">
                  <c:v>6 месяцев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295.85</c:v>
                </c:pt>
                <c:pt idx="1">
                  <c:v>356.22</c:v>
                </c:pt>
                <c:pt idx="2">
                  <c:v>408.23</c:v>
                </c:pt>
              </c:numCache>
            </c:numRef>
          </c:val>
        </c:ser>
        <c:ser>
          <c:idx val="1"/>
          <c:order val="1"/>
          <c:tx>
            <c:v>Prophet reference</c:v>
          </c:tx>
          <c:spPr>
            <a:solidFill xmlns:a="http://schemas.openxmlformats.org/drawingml/2006/main">
              <a:srgbClr val="A4ADA7"/>
            </a:solidFill>
          </c:spPr>
          <c:cat>
            <c:strRef>
              <c:f>'Chart Data'!$C$2:$C$4</c:f>
              <c:strCache>
                <c:ptCount val="3"/>
                <c:pt idx="0">
                  <c:v>1 месяц</c:v>
                </c:pt>
                <c:pt idx="1">
                  <c:v>3 месяца</c:v>
                </c:pt>
                <c:pt idx="2">
                  <c:v>6 месяцев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715.64</c:v>
                </c:pt>
                <c:pt idx="1">
                  <c:v>969.13</c:v>
                </c:pt>
                <c:pt idx="2">
                  <c:v>1131.6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5291E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3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5291E"/>
                    </a:solidFill>
                    <a:latin typeface="DejaVu Sans"/>
                    <a:ea typeface="DejaVu Sans"/>
                    <a:cs typeface="DejaVu Sans"/>
                  </a:rPr>
                  <a:t>MAE, руб.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5291E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291E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AFBF8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Орск</c:v>
          </c:tx>
          <c:spPr>
            <a:ln xmlns:a="http://schemas.openxmlformats.org/drawingml/2006/main" w="28575">
              <a:solidFill>
                <a:srgbClr val="176544"/>
              </a:solidFill>
            </a:ln>
          </c:spPr>
          <c:marker>
            <c:symbol val="circle"/>
            <c:size val="5"/>
          </c:marker>
          <c:cat>
            <c:strRef>
              <c:f>'Chart Data'!$A$2:$A$13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11.11</c:v>
                </c:pt>
                <c:pt idx="1">
                  <c:v>8.63</c:v>
                </c:pt>
                <c:pt idx="2">
                  <c:v>7.5</c:v>
                </c:pt>
                <c:pt idx="3">
                  <c:v>5.11</c:v>
                </c:pt>
                <c:pt idx="4">
                  <c:v>9.51</c:v>
                </c:pt>
                <c:pt idx="5">
                  <c:v>9.66</c:v>
                </c:pt>
                <c:pt idx="6">
                  <c:v>7.35</c:v>
                </c:pt>
                <c:pt idx="7">
                  <c:v>5.03</c:v>
                </c:pt>
                <c:pt idx="8">
                  <c:v>3.36</c:v>
                </c:pt>
                <c:pt idx="9">
                  <c:v>5.58</c:v>
                </c:pt>
                <c:pt idx="10">
                  <c:v>4.88</c:v>
                </c:pt>
                <c:pt idx="11">
                  <c:v>2.86</c:v>
                </c:pt>
              </c:numCache>
            </c:numRef>
          </c:val>
          <c:smooth val="0"/>
        </c:ser>
        <c:ser>
          <c:idx val="1"/>
          <c:order val="1"/>
          <c:tx>
            <c:v>Оренбург</c:v>
          </c:tx>
          <c:spPr>
            <a:ln xmlns:a="http://schemas.openxmlformats.org/drawingml/2006/main" w="28575">
              <a:solidFill>
                <a:srgbClr val="477DAD"/>
              </a:solidFill>
            </a:ln>
          </c:spPr>
          <c:marker>
            <c:symbol val="circle"/>
            <c:size val="5"/>
          </c:marker>
          <c:cat>
            <c:strRef>
              <c:f>'Chart Data'!$C$2:$C$13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8.85</c:v>
                </c:pt>
                <c:pt idx="1">
                  <c:v>6.94</c:v>
                </c:pt>
                <c:pt idx="2">
                  <c:v>5.97</c:v>
                </c:pt>
                <c:pt idx="3">
                  <c:v>2.57</c:v>
                </c:pt>
                <c:pt idx="4">
                  <c:v>2.12</c:v>
                </c:pt>
                <c:pt idx="5">
                  <c:v>4.76</c:v>
                </c:pt>
                <c:pt idx="6">
                  <c:v>2.36</c:v>
                </c:pt>
                <c:pt idx="7">
                  <c:v>1.41</c:v>
                </c:pt>
                <c:pt idx="8">
                  <c:v>-0.22</c:v>
                </c:pt>
                <c:pt idx="9">
                  <c:v>0.59</c:v>
                </c:pt>
                <c:pt idx="10">
                  <c:v>1.91</c:v>
                </c:pt>
                <c:pt idx="11">
                  <c:v>0.81</c:v>
                </c:pt>
              </c:numCache>
            </c:numRef>
          </c:val>
          <c:smooth val="0"/>
        </c:ser>
        <c:ser>
          <c:idx val="2"/>
          <c:order val="2"/>
          <c:tx>
            <c:v>Курган</c:v>
          </c:tx>
          <c:spPr>
            <a:ln xmlns:a="http://schemas.openxmlformats.org/drawingml/2006/main" w="28575">
              <a:solidFill>
                <a:srgbClr val="AB733A"/>
              </a:solidFill>
            </a:ln>
          </c:spPr>
          <c:marker>
            <c:symbol val="circle"/>
            <c:size val="5"/>
          </c:marker>
          <c:cat>
            <c:strRef>
              <c:f>'Chart Data'!$E$2:$E$13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6.82</c:v>
                </c:pt>
                <c:pt idx="1">
                  <c:v>7.16</c:v>
                </c:pt>
                <c:pt idx="2">
                  <c:v>7.71</c:v>
                </c:pt>
                <c:pt idx="3">
                  <c:v>4.17</c:v>
                </c:pt>
                <c:pt idx="4">
                  <c:v>5.22</c:v>
                </c:pt>
                <c:pt idx="5">
                  <c:v>6.51</c:v>
                </c:pt>
                <c:pt idx="6">
                  <c:v>5.65</c:v>
                </c:pt>
                <c:pt idx="7">
                  <c:v>6.49</c:v>
                </c:pt>
                <c:pt idx="8">
                  <c:v>4.57</c:v>
                </c:pt>
                <c:pt idx="9">
                  <c:v>4.31</c:v>
                </c:pt>
                <c:pt idx="10">
                  <c:v>5.35</c:v>
                </c:pt>
                <c:pt idx="11">
                  <c:v>6.31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-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5291E"/>
                    </a:solidFill>
                    <a:latin typeface="DejaVu Sans"/>
                    <a:ea typeface="DejaVu Sans"/>
                    <a:cs typeface="DejaVu Sans"/>
                  </a:rPr>
                  <a:t>Годовая log-динамика, п.п.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5291E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291E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AFBF8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65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91FB6-95A7-469A-A221-C7238FF9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76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Прогноз потребления</a:t>
            </a:r>
          </a:p>
          <a:p xmlns:a="http://schemas.openxmlformats.org/drawingml/2006/main">
            <a:pPr>
              <a:buNone/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 мониторинг изменений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0EE16-8AB6-4003-9F01-42CE48D2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Муниципальные данные СберИндекса · V5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FFCA5-3C5C-4487-9060-27FD423E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EEBE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DEEBE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EEBE1"/>
                </a:solidFill>
                <a:latin typeface="DejaVu Sans"/>
                <a:ea typeface="DejaVu Sans"/>
                <a:cs typeface="DejaVu Sans"/>
              </a:rPr>
              <a:t>Номинация «Прогнозирование»</a:t>
            </a:r>
          </a:p>
          <a:p xmlns:a="http://schemas.openxmlformats.org/drawingml/2006/main">
            <a:pPr>
              <a:buNone/>
              <a:defRPr sz="1800" b="0">
                <a:solidFill>
                  <a:srgbClr val="DEEBE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EEBE1"/>
                </a:solidFill>
                <a:latin typeface="DejaVu Sans"/>
                <a:ea typeface="DejaVu Sans"/>
                <a:cs typeface="DejaVu Sans"/>
              </a:rPr>
              <a:t>Щеколдин Ярослав Данилович / октябрь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76850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DA66C-6215-4A4A-A7CD-863AC706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Задача и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5CBB4-5143-479B-AE4E-D2DFBF75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95643-047C-45CF-8624-4756D1D9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Источник: СберИндекс, январь 2023 — декабрь 2024. CC BY-SA 4.0.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5898A-8C46-4336-ABB5-F4FB243B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480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2 190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4B001-60AB-4158-895D-33832706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91E"/>
                </a:solidFill>
                <a:latin typeface="DejaVu Sans"/>
                <a:ea typeface="DejaVu Sans"/>
                <a:cs typeface="DejaVu Sans"/>
              </a:rPr>
              <a:t>муниципалитетов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030C3-A138-496E-ABA5-20206BE1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668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480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D585D-4A27-47DE-9DF1-CA237F40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050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91E"/>
                </a:solidFill>
                <a:latin typeface="DejaVu Sans"/>
                <a:ea typeface="DejaVu Sans"/>
                <a:cs typeface="DejaVu Sans"/>
              </a:rPr>
              <a:t>категорий расходов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CC6E3-207D-4B48-9D60-FAB04A8A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480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EAA26-B9DB-49C4-8D20-B50149E6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050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91E"/>
                </a:solidFill>
                <a:latin typeface="DejaVu Sans"/>
                <a:ea typeface="DejaVu Sans"/>
                <a:cs typeface="DejaVu Sans"/>
              </a:rPr>
              <a:t>месяца истории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35B06-FF1B-41C5-97C9-695B540E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91E"/>
                </a:solidFill>
                <a:latin typeface="DejaVu Sans"/>
                <a:ea typeface="DejaVu Sans"/>
                <a:cs typeface="DejaVu Sans"/>
              </a:rPr>
              <a:t>Прогноз на 1, 3 и 6 месяцев помогает оценить ожидаемые расходы. Горизонт 12 месяцев проверяем отдельно.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C4494-D4FC-4A59-9094-D73381B6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91E"/>
                </a:solidFill>
                <a:latin typeface="DejaVu Sans"/>
                <a:ea typeface="DejaVu Sans"/>
                <a:cs typeface="DejaVu Sans"/>
              </a:rPr>
              <a:t>Мониторинг отмечает изменения после получения очередного месяца. Аналитик проверяет сигнал и контекст события.</a:t>
            </a:r>
          </a:p>
        </p:txBody>
      </p:sp>
    </p:spTree>
    <p:extLst>
      <p:ext uri="{BB962C8B-B14F-4D97-AF65-F5344CB8AC3E}">
        <p14:creationId xmlns:p14="http://schemas.microsoft.com/office/powerpoint/2010/main" val="17236082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E9634-817C-44B0-B5D8-DF4EF9D1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Архитектура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7CB29-BDF7-4BA0-9E73-57A593FE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B8928-6D79-46F3-B176-6B6E2D55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Источники: pipeline/, research/v5/model.py. Национальный ряд: СберИндекс, CC BY-SA 4.0.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851E4-76E8-4BC9-AA2E-2C0B880090FA}"/>
              </a:ext>
            </a:extLst>
          </p:cNvPr>
          <p:cNvGraphicFramePr/>
          <p:nvPr/>
        </p:nvGraphicFramePr>
        <p:xfrm>
          <a:off xmlns:a="http://schemas.openxmlformats.org/drawingml/2006/main" x="590550" y="1476375"/>
          <a:ext xmlns:a="http://schemas.openxmlformats.org/drawingml/2006/main" cx="110109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48650"/>
              </a:tblGrid>
              <a:tr h="603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Этап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Что делает система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Подготовка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История МО и национальный сезонный ориентир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База V4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Ridge, Chronos и защитная месячная смесь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Доработка V5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Месячное сглаживание и годовая сезонная привязка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Мониторинг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Детектор confirmed2 после новых наблюдений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Выход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Точечные прогнозы V5 и сигналы изменений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BDC04-2CDA-4A36-BEAF-653E8EDE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V5 добавляет длинный сезонный ориентир. Детектор V4 подтверждает местное отклонение двумя наблюдениями.</a:t>
            </a:r>
          </a:p>
        </p:txBody>
      </p:sp>
    </p:spTree>
    <p:extLst>
      <p:ext uri="{BB962C8B-B14F-4D97-AF65-F5344CB8AC3E}">
        <p14:creationId xmlns:p14="http://schemas.microsoft.com/office/powerpoint/2010/main" val="35835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D9A55-1D5F-4962-B377-675522AD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Проверка V5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6B70A-3E9D-4715-B93A-3969E9AD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03DFB-72D8-4C5C-BABF-77E8DCA6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Источники: research/v5/PROTOCOL.md, metrics.csv, test_model.py и SOURCES.json.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48667-6570-49FC-A623-C661B4240EEB}"/>
              </a:ext>
            </a:extLst>
          </p:cNvPr>
          <p:cNvGraphicFramePr/>
          <p:nvPr/>
        </p:nvGraphicFramePr>
        <p:xfrm>
          <a:off xmlns:a="http://schemas.openxmlformats.org/drawingml/2006/main" x="590550" y="1476375"/>
          <a:ext xmlns:a="http://schemas.openxmlformats.org/drawingml/2006/main" cx="11010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7240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Проверка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Объём и назначение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 месячных дат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150 228 пар прогноз–факт за 2024 год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Горизонты 3 / 6 / 12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/ 1 / 1 даты, ограниченная история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Лаг национального ряда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месяц основной, 2 месяца для устойчивости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Контроль вычислений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Будущее не меняет прогноз, факты совпадают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6F14E-4119-4E32-BA29-C03F1F00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91E"/>
                </a:solidFill>
                <a:latin typeface="DejaVu Sans"/>
                <a:ea typeface="DejaVu Sans"/>
                <a:cs typeface="DejaVu Sans"/>
              </a:rPr>
              <a:t>Одинаковые фактические цели. Национальный ряд доступен с лагом 1 месяц, проверка устойчивости с лагом 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8B75F-273C-45D2-A419-6AB99814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00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Годовой компонент дополнительно проверен на 10 датах с короткой историей.</a:t>
            </a:r>
          </a:p>
        </p:txBody>
      </p:sp>
    </p:spTree>
    <p:extLst>
      <p:ext uri="{BB962C8B-B14F-4D97-AF65-F5344CB8AC3E}">
        <p14:creationId xmlns:p14="http://schemas.microsoft.com/office/powerpoint/2010/main" val="244790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7ACA9-DCF3-495A-8D75-C3B96D6A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Исходный V3: сравнение с Prophet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66E71-9B52-4DBD-ADC8-08193FDD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4E543-8837-4ACC-B818-BDD6E00D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Источник: pipeline/v3_results/paired_prophet_metrics.csv. MAE меньше — лучше.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D684748-8EFB-41B6-AF2A-81495C9057EE}"/>
              </a:ext>
            </a:extLst>
          </p:cNvPr>
          <p:cNvGraphicFramePr/>
          <p:nvPr/>
        </p:nvGraphicFramePr>
        <p:xfrm>
          <a:off xmlns:a="http://schemas.openxmlformats.org/drawingml/2006/main" x="590550" y="1619250"/>
          <a:ext xmlns:a="http://schemas.openxmlformats.org/drawingml/2006/main" cx="110109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33fb62d795423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BB806-7570-4F7C-9E8A-AB2279CE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291E"/>
                </a:solidFill>
                <a:latin typeface="DejaVu Sans"/>
                <a:ea typeface="DejaVu Sans"/>
                <a:cs typeface="DejaVu Sans"/>
              </a:rPr>
              <a:t>Одинаковые МО, категории и даты. Использована собственная воспроизводимая настройка Prophet.</a:t>
            </a:r>
          </a:p>
        </p:txBody>
      </p:sp>
    </p:spTree>
    <p:extLst>
      <p:ext uri="{BB962C8B-B14F-4D97-AF65-F5344CB8AC3E}">
        <p14:creationId xmlns:p14="http://schemas.microsoft.com/office/powerpoint/2010/main" val="1146092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68F1E-1FF3-4D85-B531-D99EE6F2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V5: месячная ошибка ниже на 17,1%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2DB51-B030-4697-851B-68DDD13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1DEDC-68E8-468D-93B2-3025D1C5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Источник: research/v5/results/metrics.csv. Все шесть категорий, пары совпадают с V4.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C2CBA-6D54-443D-A99F-C42DEED526B9}"/>
              </a:ext>
            </a:extLst>
          </p:cNvPr>
          <p:cNvGraphicFramePr/>
          <p:nvPr/>
        </p:nvGraphicFramePr>
        <p:xfrm>
          <a:off xmlns:a="http://schemas.openxmlformats.org/drawingml/2006/main" x="590550" y="1666875"/>
          <a:ext xmlns:a="http://schemas.openxmlformats.org/drawingml/2006/main" cx="110109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57500"/>
                <a:gridCol w="3048000"/>
                <a:gridCol w="2724150"/>
              </a:tblGrid>
              <a:tr h="631031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Горизонт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V4, руб.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V5, руб.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Изменение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месяц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371,44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307,85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−17,1%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 месяцев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784,32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650,41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−17,1%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мес., лаг 2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371,44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307,06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−17,3%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6295C-35A2-48E7-A800-BCB1161A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Выигрыш в 9 из 12 месяцев и во всех категориях. Горизонты 3 и 6 месяцев сохранены.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575B1-EBB7-49A0-A990-A3D80242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Здесь годовой срез на одной дате. На 10 датах V5 уступает простой модели роста. Подробнее в отчёте.</a:t>
            </a:r>
          </a:p>
        </p:txBody>
      </p:sp>
    </p:spTree>
    <p:extLst>
      <p:ext uri="{BB962C8B-B14F-4D97-AF65-F5344CB8AC3E}">
        <p14:creationId xmlns:p14="http://schemas.microsoft.com/office/powerpoint/2010/main" val="12090570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6EF57-A412-4C44-A875-8BCCE1BF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Chronos полезен после адаптации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7293F-4AF1-4CFE-AF64-A32F3EC1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A210E-8433-48DB-8F9D-2C033023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Источник: pipeline/upgrade_results/metrics.csv и paired_comparisons.json.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BB844-3598-49E7-B6DA-073D5C6F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91E"/>
                </a:solidFill>
                <a:latin typeface="DejaVu Sans"/>
                <a:ea typeface="DejaVu Sans"/>
                <a:cs typeface="DejaVu Sans"/>
              </a:rPr>
              <a:t>Убираем сезонный профиль перед прогнозом и восстанавливаем его после. Веса модели не дообучаем.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F8E7E-7B03-4EEE-9956-CC20E3D04F53}"/>
              </a:ext>
            </a:extLst>
          </p:cNvPr>
          <p:cNvGraphicFramePr/>
          <p:nvPr/>
        </p:nvGraphicFramePr>
        <p:xfrm>
          <a:off xmlns:a="http://schemas.openxmlformats.org/drawingml/2006/main" x="590550" y="2524125"/>
          <a:ext xmlns:a="http://schemas.openxmlformats.org/drawingml/2006/main" cx="110109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3143250"/>
                <a:gridCol w="2914650"/>
              </a:tblGrid>
              <a:tr h="63103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h, мес.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Chronos исходный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 адаптацией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Ансамбль V2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948,9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433,1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347,5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1432,3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821,5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400,0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2756,0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1902,6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443,1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44BCB-4086-4703-8797-CFD1558A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244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291E"/>
                </a:solidFill>
                <a:latin typeface="DejaVu Sans"/>
                <a:ea typeface="DejaVu Sans"/>
                <a:cs typeface="DejaVu Sans"/>
              </a:rPr>
              <a:t>При замене выбранных Chronos-компонентов сезонной моделью MAE V2 растёт до 373,9 / 540,6 / 627,8 руб.</a:t>
            </a:r>
          </a:p>
        </p:txBody>
      </p:sp>
    </p:spTree>
    <p:extLst>
      <p:ext uri="{BB962C8B-B14F-4D97-AF65-F5344CB8AC3E}">
        <p14:creationId xmlns:p14="http://schemas.microsoft.com/office/powerpoint/2010/main" val="16107309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7FBBF-19C0-463C-9BE7-9AC36122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Новости помогают не на каждом горизонте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DDF05-EEA4-4403-ADA3-D37D2D8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BC531-D672-4AAC-83B8-8D6AA16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Источник: pipeline/final_results/news_ablation.csv, строки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934B7-558F-4A5E-9832-B1A4359B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5291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91E"/>
                </a:solidFill>
                <a:latin typeface="DejaVu Sans"/>
                <a:ea typeface="DejaVu Sans"/>
                <a:cs typeface="DejaVu Sans"/>
              </a:rPr>
              <a:t>Девять официальных фактов о ключевой ставке. В признаки попадает только информация, известная на дату прогноза.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F5871-13BA-4193-9E61-6C2A2BEB6701}"/>
              </a:ext>
            </a:extLst>
          </p:cNvPr>
          <p:cNvGraphicFramePr/>
          <p:nvPr/>
        </p:nvGraphicFramePr>
        <p:xfrm>
          <a:off xmlns:a="http://schemas.openxmlformats.org/drawingml/2006/main" x="590550" y="2476500"/>
          <a:ext xmlns:a="http://schemas.openxmlformats.org/drawingml/2006/main" cx="110109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267200"/>
                <a:gridCol w="4267200"/>
              </a:tblGrid>
              <a:tr h="642938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Горизонт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Ridge без новостей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Ridge с новостями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мес.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441,8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316,4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мес.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572,8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675,9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 мес.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578,5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870,7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B1F10-5A78-4328-A205-BD8F6A4C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054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На 1 месяце ошибка ниже на 28,4%. На 3 и 6 месяцах новости ухудшают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126854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78DF1-F4C6-45BD-9F22-2DCF0B78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Подтверждение локального изменения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CB904-4658-46B6-99CB-5CE61299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72BB3-7357-4780-A69F-22E95B06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Источник: research/v4/results/detector/ и confirmation/. По 2 100 сценариев на группу.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48C50-CB40-460C-8202-B40A6A00EDF3}"/>
              </a:ext>
            </a:extLst>
          </p:cNvPr>
          <p:cNvGraphicFramePr/>
          <p:nvPr/>
        </p:nvGraphicFramePr>
        <p:xfrm>
          <a:off xmlns:a="http://schemas.openxmlformats.org/drawingml/2006/main" x="590550" y="1524000"/>
          <a:ext xmlns:a="http://schemas.openxmlformats.org/drawingml/2006/main" cx="110109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943100"/>
                <a:gridCol w="1943100"/>
                <a:gridCol w="1943100"/>
                <a:gridCol w="1943100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Проверка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Метод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F1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Recall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Задержка</a:t>
                      </a:r>
                    </a:p>
                  </a:txBody>
                  <a:tcPr marL="133350" marR="114300" marT="114300" marB="95250" anchor="ctr">
                    <a:solidFill>
                      <a:srgbClr val="176544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Прежний тест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Multiscale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0,383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24,3%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мес.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Прежний тест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Confirmed2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0,574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45,0%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мес.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Новые 300 МО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Multiscale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0,416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27,1%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мес.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Новые 300 МО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CUSUM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0,476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36,9%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мес.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Новые 300 МО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Confirmed2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0,605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48,9%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91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мес.</a:t>
                      </a:r>
                    </a:p>
                  </a:txBody>
                  <a:tcPr marL="133350" marR="114300" marT="114300" marB="95250" anchor="ctr">
                    <a:solidFill>
                      <a:srgbClr val="E7EFE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2F30F-E115-4F93-BE9D-6D7E10A3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Новые 300 МО: precision 79,1% против 89,8%. Контроль с тревогой 1,67% против 1,00%.</a:t>
            </a:r>
          </a:p>
        </p:txBody>
      </p:sp>
    </p:spTree>
    <p:extLst>
      <p:ext uri="{BB962C8B-B14F-4D97-AF65-F5344CB8AC3E}">
        <p14:creationId xmlns:p14="http://schemas.microsoft.com/office/powerpoint/2010/main" val="2574701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86C04-CFAC-45F2-A4F5-76220AA0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Паводки 2024 года: реальные примеры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7E498-0FB6-48EA-AABC-A031216F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1E5CA-EB38-42EF-9802-C163D758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6675D"/>
                </a:solidFill>
                <a:latin typeface="DejaVu Sans"/>
                <a:ea typeface="DejaVu Sans"/>
                <a:cs typeface="DejaVu Sans"/>
              </a:rPr>
              <a:t>Источники: МЧС, local_case_history.csv, local_cases.json. Динамика относительно медианы панели.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804AEBD-5C9F-4460-956F-C4CCE6D4BD56}"/>
              </a:ext>
            </a:extLst>
          </p:cNvPr>
          <p:cNvGraphicFramePr/>
          <p:nvPr/>
        </p:nvGraphicFramePr>
        <p:xfrm>
          <a:off xmlns:a="http://schemas.openxmlformats.org/drawingml/2006/main" x="590550" y="1524000"/>
          <a:ext xmlns:a="http://schemas.openxmlformats.org/drawingml/2006/main" cx="110109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9b523b4980457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E5B8D-FB03-4CD4-AE17-ACB21589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76544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6544"/>
                </a:solidFill>
                <a:latin typeface="DejaVu Sans"/>
                <a:ea typeface="DejaVu Sans"/>
                <a:cs typeface="DejaVu Sans"/>
              </a:rPr>
              <a:t>Три события не дали тревог в проверенном окне. Месячные агрегаты могут скрывать локальные последствия.</a:t>
            </a:r>
          </a:p>
        </p:txBody>
      </p:sp>
    </p:spTree>
    <p:extLst>
      <p:ext uri="{BB962C8B-B14F-4D97-AF65-F5344CB8AC3E}">
        <p14:creationId xmlns:p14="http://schemas.microsoft.com/office/powerpoint/2010/main" val="1123182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2026-10-09T13:48:36.5210000Z</dcterms:created>
  <dcterms:modified xsi:type="dcterms:W3CDTF">2026-10-09T13:48:36.5210000Z</dcterms:modified>
</coreProperties>
</file>